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8EB-4948-BA13-87BB8414E789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EB-4948-BA13-87BB8414E78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8EB-4948-BA13-87BB8414E78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8EB-4948-BA13-87BB8414E78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Repaid (91.94%)</c:v>
                </c:pt>
                <c:pt idx="1">
                  <c:v>Defaulted (8.06%)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91.94</c:v>
                </c:pt>
                <c:pt idx="1">
                  <c:v>8.06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EB-4948-BA13-87BB8414E7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%</c:v>
                </c:pt>
              </c:strCache>
            </c:strRef>
          </c:tx>
          <c:spPr>
            <a:solidFill>
              <a:srgbClr val="0D7C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20-30 yrs</c:v>
                </c:pt>
                <c:pt idx="1">
                  <c:v>30-40 yrs</c:v>
                </c:pt>
                <c:pt idx="2">
                  <c:v>40-50 yrs</c:v>
                </c:pt>
                <c:pt idx="3">
                  <c:v>50-60 yrs</c:v>
                </c:pt>
                <c:pt idx="4">
                  <c:v>60+ yrs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11.2</c:v>
                </c:pt>
                <c:pt idx="1">
                  <c:v>9.8000000000000007</c:v>
                </c:pt>
                <c:pt idx="2">
                  <c:v>7.4</c:v>
                </c:pt>
                <c:pt idx="3">
                  <c:v>6.1</c:v>
                </c:pt>
                <c:pt idx="4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47-4ED2-8EBC-711527733A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%</c:v>
                </c:pt>
              </c:strCache>
            </c:strRef>
          </c:tx>
          <c:spPr>
            <a:solidFill>
              <a:srgbClr val="0D7C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F1-4DF4-9324-EE9CB3E583C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1F1-4DF4-9324-EE9CB3E583C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1F1-4DF4-9324-EE9CB3E583C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1F1-4DF4-9324-EE9CB3E583C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1F1-4DF4-9324-EE9CB3E583C2}"/>
              </c:ext>
            </c:extLst>
          </c:dPt>
          <c:dPt>
            <c:idx val="5"/>
            <c:invertIfNegative val="0"/>
            <c:bubble3D val="0"/>
            <c:spPr>
              <a:solidFill>
                <a:srgbClr val="1B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1F1-4DF4-9324-EE9CB3E583C2}"/>
              </c:ext>
            </c:extLst>
          </c:dPt>
          <c:dPt>
            <c:idx val="6"/>
            <c:invertIfNegative val="0"/>
            <c:bubble3D val="0"/>
            <c:spPr>
              <a:solidFill>
                <a:srgbClr val="1B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1F1-4DF4-9324-EE9CB3E583C2}"/>
              </c:ext>
            </c:extLst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1F1-4DF4-9324-EE9CB3E583C2}"/>
              </c:ext>
            </c:extLst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1F1-4DF4-9324-EE9CB3E583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Low-skill Laborers</c:v>
                </c:pt>
                <c:pt idx="1">
                  <c:v>Drivers</c:v>
                </c:pt>
                <c:pt idx="2">
                  <c:v>Waiters/Barmen</c:v>
                </c:pt>
                <c:pt idx="3">
                  <c:v>Security Staff</c:v>
                </c:pt>
                <c:pt idx="4">
                  <c:v>Sales Staff</c:v>
                </c:pt>
                <c:pt idx="5">
                  <c:v>Laborers</c:v>
                </c:pt>
                <c:pt idx="6">
                  <c:v>IT Staff</c:v>
                </c:pt>
                <c:pt idx="7">
                  <c:v>Managers</c:v>
                </c:pt>
                <c:pt idx="8">
                  <c:v>Accountants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17.149999999999999</c:v>
                </c:pt>
                <c:pt idx="1">
                  <c:v>11.33</c:v>
                </c:pt>
                <c:pt idx="2">
                  <c:v>11.28</c:v>
                </c:pt>
                <c:pt idx="3">
                  <c:v>10.74</c:v>
                </c:pt>
                <c:pt idx="4">
                  <c:v>9.6300000000000008</c:v>
                </c:pt>
                <c:pt idx="5">
                  <c:v>7.99</c:v>
                </c:pt>
                <c:pt idx="6">
                  <c:v>6.46</c:v>
                </c:pt>
                <c:pt idx="7">
                  <c:v>6.21</c:v>
                </c:pt>
                <c:pt idx="8">
                  <c:v>4.83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1F1-4DF4-9324-EE9CB3E583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8F-4ECD-AAAA-D22564BAA82C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8F-4ECD-AAAA-D22564BAA82C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8F-4ECD-AAAA-D22564BAA82C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8F-4ECD-AAAA-D22564BAA82C}"/>
              </c:ext>
            </c:extLst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28F-4ECD-AAAA-D22564BAA82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Lower Secondary</c:v>
                </c:pt>
                <c:pt idx="1">
                  <c:v>Secondary Special</c:v>
                </c:pt>
                <c:pt idx="2">
                  <c:v>Incomplete Higher</c:v>
                </c:pt>
                <c:pt idx="3">
                  <c:v>Higher Education</c:v>
                </c:pt>
                <c:pt idx="4">
                  <c:v>Academic Degree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10.93</c:v>
                </c:pt>
                <c:pt idx="1">
                  <c:v>8.94</c:v>
                </c:pt>
                <c:pt idx="2">
                  <c:v>8.48</c:v>
                </c:pt>
                <c:pt idx="3">
                  <c:v>5.36</c:v>
                </c:pt>
                <c:pt idx="4">
                  <c:v>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28F-4ECD-AAAA-D22564BAA8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Repaid</c:v>
                </c:pt>
              </c:strCache>
            </c:strRef>
          </c:tx>
          <c:spPr>
            <a:ln w="38100" cap="flat">
              <a:solidFill>
                <a:srgbClr val="1BA8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A8BE"/>
              </a:solidFill>
              <a:ln w="9525" cap="flat">
                <a:solidFill>
                  <a:srgbClr val="1BA8BE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</c:v>
                </c:pt>
                <c:pt idx="1">
                  <c:v>0.2</c:v>
                </c:pt>
                <c:pt idx="2">
                  <c:v>0.4</c:v>
                </c:pt>
                <c:pt idx="3">
                  <c:v>0.7</c:v>
                </c:pt>
                <c:pt idx="4">
                  <c:v>1.1000000000000001</c:v>
                </c:pt>
                <c:pt idx="5">
                  <c:v>1.8</c:v>
                </c:pt>
                <c:pt idx="6">
                  <c:v>2.5</c:v>
                </c:pt>
                <c:pt idx="7">
                  <c:v>2.1</c:v>
                </c:pt>
                <c:pt idx="8">
                  <c:v>1.2</c:v>
                </c:pt>
                <c:pt idx="9">
                  <c:v>0.4</c:v>
                </c:pt>
                <c:pt idx="10">
                  <c:v>0.1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EBF-4DF2-A6E4-2A4A24ECAA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Defaulted</c:v>
                </c:pt>
              </c:strCache>
            </c:strRef>
          </c:tx>
          <c:spPr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0.3</c:v>
                </c:pt>
                <c:pt idx="1">
                  <c:v>0.5</c:v>
                </c:pt>
                <c:pt idx="2">
                  <c:v>0.8</c:v>
                </c:pt>
                <c:pt idx="3">
                  <c:v>1</c:v>
                </c:pt>
                <c:pt idx="4">
                  <c:v>1.2</c:v>
                </c:pt>
                <c:pt idx="5">
                  <c:v>1.5</c:v>
                </c:pt>
                <c:pt idx="6">
                  <c:v>1.4</c:v>
                </c:pt>
                <c:pt idx="7">
                  <c:v>0.9</c:v>
                </c:pt>
                <c:pt idx="8">
                  <c:v>0.4</c:v>
                </c:pt>
                <c:pt idx="9">
                  <c:v>0.1</c:v>
                </c:pt>
                <c:pt idx="1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EBF-4DF2-A6E4-2A4A24ECAA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 Value</c:v>
                </c:pt>
              </c:strCache>
            </c:strRef>
          </c:tx>
          <c:spPr>
            <a:solidFill>
              <a:srgbClr val="0D7C8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7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63A-41D5-85DB-C40485AE5687}"/>
              </c:ext>
            </c:extLst>
          </c:dPt>
          <c:dPt>
            <c:idx val="1"/>
            <c:invertIfNegative val="0"/>
            <c:bubble3D val="0"/>
            <c:spPr>
              <a:solidFill>
                <a:srgbClr val="0D7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63A-41D5-85DB-C40485AE5687}"/>
              </c:ext>
            </c:extLst>
          </c:dPt>
          <c:dPt>
            <c:idx val="2"/>
            <c:invertIfNegative val="0"/>
            <c:bubble3D val="0"/>
            <c:spPr>
              <a:solidFill>
                <a:srgbClr val="1B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63A-41D5-85DB-C40485AE5687}"/>
              </c:ext>
            </c:extLst>
          </c:dPt>
          <c:dPt>
            <c:idx val="3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63A-41D5-85DB-C40485AE5687}"/>
              </c:ext>
            </c:extLst>
          </c:dPt>
          <c:dPt>
            <c:idx val="4"/>
            <c:invertIfNegative val="0"/>
            <c:bubble3D val="0"/>
            <c:spPr>
              <a:solidFill>
                <a:srgbClr val="1B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63A-41D5-85DB-C40485AE5687}"/>
              </c:ext>
            </c:extLst>
          </c:dPt>
          <c:dPt>
            <c:idx val="5"/>
            <c:invertIfNegative val="0"/>
            <c:bubble3D val="0"/>
            <c:spPr>
              <a:solidFill>
                <a:srgbClr val="1B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63A-41D5-85DB-C40485AE5687}"/>
              </c:ext>
            </c:extLst>
          </c:dPt>
          <c:dPt>
            <c:idx val="6"/>
            <c:invertIfNegative val="0"/>
            <c:bubble3D val="0"/>
            <c:spPr>
              <a:solidFill>
                <a:srgbClr val="1B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63A-41D5-85DB-C40485AE5687}"/>
              </c:ext>
            </c:extLst>
          </c:dPt>
          <c:dPt>
            <c:idx val="7"/>
            <c:invertIfNegative val="0"/>
            <c:bubble3D val="0"/>
            <c:spPr>
              <a:solidFill>
                <a:srgbClr val="1B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63A-41D5-85DB-C40485AE5687}"/>
              </c:ext>
            </c:extLst>
          </c:dPt>
          <c:dPt>
            <c:idx val="8"/>
            <c:invertIfNegative val="0"/>
            <c:bubble3D val="0"/>
            <c:spPr>
              <a:solidFill>
                <a:srgbClr val="1B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63A-41D5-85DB-C40485AE5687}"/>
              </c:ext>
            </c:extLst>
          </c:dPt>
          <c:dPt>
            <c:idx val="9"/>
            <c:invertIfNegative val="0"/>
            <c:bubble3D val="0"/>
            <c:spPr>
              <a:solidFill>
                <a:srgbClr val="1BA8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63A-41D5-85DB-C40485AE56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ext_source_mean</c:v>
                </c:pt>
                <c:pt idx="1">
                  <c:v>ext_source_min</c:v>
                </c:pt>
                <c:pt idx="2">
                  <c:v>amt_req_credit_bureau_year</c:v>
                </c:pt>
                <c:pt idx="3">
                  <c:v>credit_goods_ratio</c:v>
                </c:pt>
                <c:pt idx="4">
                  <c:v>obs_30_cnt_social_circle</c:v>
                </c:pt>
                <c:pt idx="5">
                  <c:v>ext_source_3</c:v>
                </c:pt>
                <c:pt idx="6">
                  <c:v>flag_own_realty</c:v>
                </c:pt>
                <c:pt idx="7">
                  <c:v>code_gender_M</c:v>
                </c:pt>
                <c:pt idx="8">
                  <c:v>age_years</c:v>
                </c:pt>
                <c:pt idx="9">
                  <c:v>employment_years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</c:v>
                </c:pt>
                <c:pt idx="1">
                  <c:v>50</c:v>
                </c:pt>
                <c:pt idx="2">
                  <c:v>48</c:v>
                </c:pt>
                <c:pt idx="3">
                  <c:v>42</c:v>
                </c:pt>
                <c:pt idx="4">
                  <c:v>30</c:v>
                </c:pt>
                <c:pt idx="5">
                  <c:v>28</c:v>
                </c:pt>
                <c:pt idx="6">
                  <c:v>24</c:v>
                </c:pt>
                <c:pt idx="7">
                  <c:v>22</c:v>
                </c:pt>
                <c:pt idx="8">
                  <c:v>19</c:v>
                </c:pt>
                <c:pt idx="9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63A-41D5-85DB-C40485AE56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878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B2D54"/>
          </a:solidFill>
          <a:ln w="12700">
            <a:solidFill>
              <a:srgbClr val="0B2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C3260"/>
          </a:solidFill>
          <a:ln w="12700">
            <a:solidFill>
              <a:srgbClr val="0C32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9260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LOAN DEFAULT ANALYSIS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 |  307,511 Applications  |  </a:t>
            </a:r>
            <a:r>
              <a:rPr lang="en-US" sz="1300" dirty="0" err="1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3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Gupta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Business Analytics &amp; Machine Learning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4023360"/>
            <a:ext cx="1188720" cy="822960"/>
          </a:xfrm>
          <a:prstGeom prst="rect">
            <a:avLst/>
          </a:prstGeom>
          <a:solidFill>
            <a:srgbClr val="0B3060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40416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29400" y="4023360"/>
            <a:ext cx="1188720" cy="822960"/>
          </a:xfrm>
          <a:prstGeom prst="rect">
            <a:avLst/>
          </a:prstGeom>
          <a:solidFill>
            <a:srgbClr val="0B3060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40416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55280" y="4023360"/>
            <a:ext cx="1188720" cy="822960"/>
          </a:xfrm>
          <a:prstGeom prst="rect">
            <a:avLst/>
          </a:prstGeom>
          <a:solidFill>
            <a:srgbClr val="0B3060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40416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55280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HOW LENDING DECISIONS ARE MADE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APPROVALS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applicants slip through manual underwriting — default, generating direct financial losses the business cannot recover.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1148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REJECTIONS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Creditworthy applicants are turned away because their profiles don't fit traditional scoring models — destroying revenue and market share.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data price risk better than intuition — consistently, at scale, and in real time?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868680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005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24,825 applicants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8686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868680"/>
            <a:ext cx="2011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005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91.94%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26864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26864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282,686 applicants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8686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868680"/>
            <a:ext cx="2011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005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~11:1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03136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3136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Repaid vs Defaulted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57200" y="283464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4754880" y="2834640"/>
            <a:ext cx="4114800" cy="2011680"/>
          </a:xfrm>
          <a:prstGeom prst="rect">
            <a:avLst/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3776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STRUCTURAL BLIND SPOT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937760" y="33375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11:1 imbalance means a model that approves everyone achieves 92% accuracy — while missing every single defaulter. Accuracy is the wrong metric. The real question is: who are the 8%?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ACTUALLY DEFAULTS?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AGE GROUP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4300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82296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63440" y="822960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914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10.14%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0060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applicants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0060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females at 7.00%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812280" y="82296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12280" y="822960"/>
            <a:ext cx="6400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914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12.31%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9494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4944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house/apt owners at 7.80%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224028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2240280"/>
            <a:ext cx="6400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11.70%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8006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with parents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00600" y="3081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co-op apartment at 7.93%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812280" y="224028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12280" y="2240280"/>
            <a:ext cx="64008" cy="12344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9.94%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94944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marriage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49440" y="3081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married at 7.56%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 has a demographic fingerprint — younger, male, asset-light applicants default at structurally higher rates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&amp; EDUCATION ARE THE STRONGEST BEHAVIOURAL SIGNALS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OCCUPATION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78992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EDUCATION</a:t>
            </a:r>
            <a:endParaRPr lang="en-US" sz="10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663440" y="1078992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325112"/>
            <a:ext cx="859536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3251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and how far you studied predicts default better than how much you earn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COUNTERINTUITIVE FINDING: INCOME DOESN'T SEPARATE RISK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VALUES — DEFAULTERS vs NON-DEFAULTERS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935344"/>
              </p:ext>
            </p:extLst>
          </p:nvPr>
        </p:nvGraphicFramePr>
        <p:xfrm>
          <a:off x="274320" y="1170432"/>
          <a:ext cx="5486400" cy="242620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Non-Defaulter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Risk?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$ 147,150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$ 135,000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Barely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$ 513,000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$ 544,500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Barely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Annuity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$ 25,155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$ 26,018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Barely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Credit/Income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 — ratio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Annuity/Income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 — burden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804672"/>
            <a:ext cx="2743200" cy="2743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6309360" y="896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1325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$500K loan means something entirely different to someone earning $200K versus $2M.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0936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amounts are noise.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are the signal.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3749040"/>
            <a:ext cx="8595360" cy="822960"/>
          </a:xfrm>
          <a:prstGeom prst="rect">
            <a:avLst/>
          </a:prstGeom>
          <a:solidFill>
            <a:srgbClr val="EBF4F7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Engineered Features →  credit_income_ratio  |  annuity_income_ratio  |  credit_goods_ratio  |  income_per_person  |  ext_source_mean  |  ext_source_min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credit_goods_ratio — an engineered feature — ranked in the top 5 SHAP predictors of the final model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CREDIT SCORES: THE SINGLE STRONGEST PREDICTOR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Default: -0.10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56.38% missing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82296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822960"/>
            <a:ext cx="2743200" cy="640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Default: -0.16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0.21% missing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82296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822960"/>
            <a:ext cx="2743200" cy="640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0216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Default: -0.16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19.83% missing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DISTRIBUTION: REPAID vs DEFAULTED (EXT_SOURCE_2)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2606040"/>
          <a:ext cx="5486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6035040" y="2331720"/>
            <a:ext cx="2834640" cy="2560320"/>
          </a:xfrm>
          <a:prstGeom prst="rect">
            <a:avLst/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DATA GAP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72200" y="283464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EXT_SOURCE_1 — the strongest predictor — was missing for 56.38% of all applicants at ingestion.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missing value is a lost opportunity to price risk accurately.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data pipeline would directly improve model discrimination with zero architectural change.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MODEL: WHAT IT LEARNED AND HOW WELL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 — XGBoost  |  Test Set Performance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828800"/>
          </a:xfrm>
          <a:prstGeom prst="rect">
            <a:avLst/>
          </a:prstGeom>
          <a:solidFill>
            <a:srgbClr val="0B2D54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618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discriminative power across all thresholds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188720"/>
            <a:ext cx="2011680" cy="1828800"/>
          </a:xfrm>
          <a:prstGeom prst="rect">
            <a:avLst/>
          </a:prstGeom>
          <a:solidFill>
            <a:srgbClr val="0B2D54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2618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39.92%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42032" y="2267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 every 5 actual defaulters correctly identified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188720"/>
            <a:ext cx="2011680" cy="1828800"/>
          </a:xfrm>
          <a:prstGeom prst="rect">
            <a:avLst/>
          </a:prstGeom>
          <a:solidFill>
            <a:srgbClr val="0B2D54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2618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0.2998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18304" y="2267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precision-recall balance of all 4 models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1188720"/>
            <a:ext cx="2011680" cy="1828800"/>
          </a:xfrm>
          <a:prstGeom prst="rect">
            <a:avLst/>
          </a:prstGeom>
          <a:solidFill>
            <a:srgbClr val="0B2D54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2618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03136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Drift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94576" y="2267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validation to test — zero overfitting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— VALIDATION SET COMPARISON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20440"/>
          <a:ext cx="8595360" cy="14173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DECISION: WHY 40% RECALL IS THE RIGHT BUSINESS CHOICE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— PRECISION vs RECALL TRADE-OFF (TEST SET)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175564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Caught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queue overwhelmed — operationally unviable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catch rate but 4× false alarms per true 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— highest F1, manageable review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 — lower cost, more missed defaults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default — misses 60% of defaulters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7180" y="2992198"/>
            <a:ext cx="4114800" cy="179925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4"/>
          <p:cNvSpPr/>
          <p:nvPr/>
        </p:nvSpPr>
        <p:spPr>
          <a:xfrm>
            <a:off x="297180" y="2971624"/>
            <a:ext cx="411480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ASYMMETRIC COST OF ERRORS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199" y="3447288"/>
            <a:ext cx="1793631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7"/>
          <p:cNvSpPr/>
          <p:nvPr/>
        </p:nvSpPr>
        <p:spPr>
          <a:xfrm>
            <a:off x="457200" y="350496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72442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defaulter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 loan lost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Unrecoverable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68880" y="3447288"/>
            <a:ext cx="187452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35112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468880" y="3724422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good applicant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Lost interest income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opportunity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0" y="2980944"/>
            <a:ext cx="4297680" cy="181051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011541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0.50 IS NOT A BUSINESS 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3362178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is a statistical default — not a considered choice. At 0.50, the model misses 60% of defaulters. Every miss is an unrecoverable loss.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0.40 was selected because it peaks on F1 — the metric that explicitly balances both error types. False alarms are recoverable. Missed defaults are not.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4855464"/>
            <a:ext cx="8595360" cy="20116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8554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a business decision — not a default parameter. It was set where F1 peaks and expected loss is minimised.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GAP THAT IS COSTING THE MODEL ITS CEILING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21945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22860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default: -0.10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at ingestion: 56.38%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imputed: 173,271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 discriminative power for these records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743200" cy="21945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822960"/>
            <a:ext cx="2743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55848" y="1298448"/>
            <a:ext cx="22860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298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default: -0.16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at ingestion: 0.21%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2240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imputed: 646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514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 discriminative power for these records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822960"/>
            <a:ext cx="2743200" cy="219456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822960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0216" y="1298448"/>
            <a:ext cx="228600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1298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GAP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0216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default: -0.16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0216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at ingestion: 19.83%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0216" y="2240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imputed: 60,979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0216" y="2514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 discriminative power for these records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127248"/>
            <a:ext cx="859536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127248"/>
            <a:ext cx="859536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18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OF THE DATA GAP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173,271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7200" y="39502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scored with EXT_SOURCE_1 replaced by a constant — 3rd strongest predictor carrying zero signal for these records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0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56.38%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291840" y="39502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entire portfolio blind to one of the top 3 SHAP predictors — not because the feature is weak, but because the data was never collected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26480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changes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126480" y="39502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model architecture required — improving the data feed alone directly improves discrimination for 173K+ applicants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EXT_SOURCE_1 is the single highest-ROI model improvement available — no retraining, no new features, no architecture change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TIER FRAMEWORK: ONE MODEL, THREE BUSINESS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406908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889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22860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Portfolio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33.14%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560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101,920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8254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Default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035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3009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Predicted Prob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511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less than 3× below portfolio average. Zero manual underwriting needed.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27832" y="822960"/>
            <a:ext cx="2788920" cy="4069080"/>
          </a:xfrm>
          <a:prstGeom prst="rect">
            <a:avLst/>
          </a:prstGeom>
          <a:solidFill>
            <a:srgbClr val="FFFB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822960"/>
            <a:ext cx="27889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64992" y="1353312"/>
            <a:ext cx="22860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1874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Portfolio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64992" y="2084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44.06%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64992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64992" y="2560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135,490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64992" y="28254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Default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3035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6.57%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64992" y="33009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Predicted Prob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64992" y="3511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64992" y="376732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segment. Model score + SHAP drivers surfaced to underwriter for defensible decision.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81344" y="822960"/>
            <a:ext cx="2788920" cy="406908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822960"/>
            <a:ext cx="27889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18504" y="1353312"/>
            <a:ext cx="22860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AUTO-DECLINE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18504" y="1874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Portfolio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18504" y="2084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22.80%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18504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18504" y="2560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70,105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318504" y="28254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Default Rate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18504" y="3035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19.52%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318504" y="33009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Predicted Prob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18504" y="3511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318504" y="376732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5 defaults. More than double the portfolio average. Automatic decline.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919472"/>
            <a:ext cx="8595360" cy="0"/>
          </a:xfrm>
          <a:prstGeom prst="rect">
            <a:avLst/>
          </a:prstGeom>
          <a:noFill/>
          <a:ln/>
        </p:spPr>
      </p:sp>
      <p:sp>
        <p:nvSpPr>
          <p:cNvPr id="47" name="Text 45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 default rate gap between Low Risk and High Risk — same model, three entirely different business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EVERY DECISION — MODEL INTERPRETABILITY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PREDICTORS (by impact magnitude on test set)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78992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804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APPLICANTS — TWO STORIES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60720" y="1115568"/>
            <a:ext cx="310896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188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HIGH RISK APPLICANT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481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2.893  |  Base: 1.746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75564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by: low ext_source_mean (+0.89), low ext_source_min (+0.50), high credit_goods_ratio (+0.32)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2743200"/>
            <a:ext cx="310896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8163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LOW RISK APPLICANT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-5.892  |  Base: 1.746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3383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features push score down. ext_source_mean alone contributes -0.95. Zero risk-increasing signals.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4370832"/>
            <a:ext cx="859536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3708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 or decline is explainable — no black box, fully defensible to regulators and credit committees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4114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32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Low 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16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101,920 applicants | 2.20% default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0" cy="53035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875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Eliminate manual underwriting cost for 33% of portfolio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27632"/>
            <a:ext cx="6400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737360"/>
            <a:ext cx="411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7007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Medium Risk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020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135,490 applicants | 6.57% default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719072"/>
            <a:ext cx="0" cy="53035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792224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Protect revenue + model SHAP drivers surfaced to underwriters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432304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32304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542032"/>
            <a:ext cx="4114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2505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Auto-Decline High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2825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70,105 applicants | 19.52% default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523744"/>
            <a:ext cx="0" cy="53035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59689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Prevent majority of financial losses — threshold at 0.40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36976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236976"/>
            <a:ext cx="64008" cy="71323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346704"/>
            <a:ext cx="411480" cy="4114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Risk Premia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3630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Low-skill laborers 17.15% | Unemployed 36.36%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328416"/>
            <a:ext cx="0" cy="53035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4015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Tighten thresholds for high-default occupations without model retraining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041648"/>
            <a:ext cx="64008" cy="7132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4151376"/>
            <a:ext cx="41148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012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EXT_SOURCE Data Pipeline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6012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56.38% of EXT_SOURCE_1 missing at ingestion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4133088"/>
            <a:ext cx="0" cy="53035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2062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Directly improve model discrimination — no architecture change needed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20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prices risk the way a credit analyst would —</a:t>
            </a:r>
            <a:endParaRPr lang="en-US" sz="2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20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at scale and in milliseconds."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2606040" cy="1920240"/>
          </a:xfrm>
          <a:prstGeom prst="rect">
            <a:avLst/>
          </a:prstGeom>
          <a:solidFill>
            <a:srgbClr val="0B2D54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4871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Not Random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concentrates in identifiable profiles — the current system is systematically missing them.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2423160"/>
            <a:ext cx="2606040" cy="1920240"/>
          </a:xfrm>
          <a:prstGeom prst="rect">
            <a:avLst/>
          </a:prstGeom>
          <a:solidFill>
            <a:srgbClr val="0B2D54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4871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2971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Works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3337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 default rate gap end-to-end. One model enables three distinct, defensible business decisions.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2423160"/>
            <a:ext cx="2606040" cy="1920240"/>
          </a:xfrm>
          <a:prstGeom prst="rect">
            <a:avLst/>
          </a:prstGeom>
          <a:solidFill>
            <a:srgbClr val="0B2D54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4871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Known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3337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tier framework, invest in EXT_SOURCE data, revisit threshold in 6 months.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071A30"/>
          </a:solidFill>
          <a:ln w="12700">
            <a:solidFill>
              <a:srgbClr val="071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Gupta  |  Credit Risk Modeling &amp; Loan Default Analysis  |  Home Credit Default Risk Dataset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1530</Words>
  <Application>Microsoft Office PowerPoint</Application>
  <PresentationFormat>On-screen Show (16:9)</PresentationFormat>
  <Paragraphs>307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Modeling &amp; Loan Default Analysis</dc:title>
  <dc:subject>PptxGenJS Presentation</dc:subject>
  <dc:creator>Samarth Gupta</dc:creator>
  <cp:lastModifiedBy>Samarth Gupta</cp:lastModifiedBy>
  <cp:revision>6</cp:revision>
  <dcterms:created xsi:type="dcterms:W3CDTF">2026-04-27T09:10:19Z</dcterms:created>
  <dcterms:modified xsi:type="dcterms:W3CDTF">2026-04-27T09:43:27Z</dcterms:modified>
</cp:coreProperties>
</file>